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MT Condensed" charset="1" panose="02030506070405020303"/>
      <p:regular r:id="rId12"/>
    </p:embeddedFont>
    <p:embeddedFont>
      <p:font typeface="Open Sauce Bold" charset="1" panose="00000800000000000000"/>
      <p:regular r:id="rId13"/>
    </p:embeddedFont>
    <p:embeddedFont>
      <p:font typeface="Open Sauce" charset="1" panose="00000500000000000000"/>
      <p:regular r:id="rId14"/>
    </p:embeddedFont>
    <p:embeddedFont>
      <p:font typeface="Times New Roman MT Condensed Italics" charset="1" panose="02030506070405090303"/>
      <p:regular r:id="rId15"/>
    </p:embeddedFont>
    <p:embeddedFont>
      <p:font typeface="Open Sauce Italics" charset="1" panose="00000500000000000000"/>
      <p:regular r:id="rId16"/>
    </p:embeddedFont>
    <p:embeddedFont>
      <p:font typeface="Open Sauce Bold Italics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4760" y="1969233"/>
            <a:ext cx="15906198" cy="4037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05"/>
              </a:lnSpc>
            </a:pPr>
            <a:r>
              <a:rPr lang="en-US" sz="28228" spc="-2258">
                <a:solidFill>
                  <a:srgbClr val="C22D2D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Match Making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793901" y="4038115"/>
            <a:ext cx="4700198" cy="6416358"/>
          </a:xfrm>
          <a:custGeom>
            <a:avLst/>
            <a:gdLst/>
            <a:ahLst/>
            <a:cxnLst/>
            <a:rect r="r" b="b" t="t" l="l"/>
            <a:pathLst>
              <a:path h="6416358" w="4700198">
                <a:moveTo>
                  <a:pt x="0" y="0"/>
                </a:moveTo>
                <a:lnTo>
                  <a:pt x="4700198" y="0"/>
                </a:lnTo>
                <a:lnTo>
                  <a:pt x="4700198" y="6416357"/>
                </a:lnTo>
                <a:lnTo>
                  <a:pt x="0" y="6416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539" t="-18964" r="-21762" b="-32863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361654" y="303135"/>
            <a:ext cx="13257528" cy="916133"/>
            <a:chOff x="0" y="0"/>
            <a:chExt cx="17676704" cy="122151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353933" cy="347379"/>
              <a:chOff x="0" y="0"/>
              <a:chExt cx="685800" cy="673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85800" cy="668020"/>
              </a:xfrm>
              <a:custGeom>
                <a:avLst/>
                <a:gdLst/>
                <a:ahLst/>
                <a:cxnLst/>
                <a:rect r="r" b="b" t="t" l="l"/>
                <a:pathLst>
                  <a:path h="668020" w="685800">
                    <a:moveTo>
                      <a:pt x="342900" y="0"/>
                    </a:moveTo>
                    <a:lnTo>
                      <a:pt x="434340" y="162560"/>
                    </a:lnTo>
                    <a:lnTo>
                      <a:pt x="618490" y="132080"/>
                    </a:lnTo>
                    <a:lnTo>
                      <a:pt x="547370" y="304800"/>
                    </a:lnTo>
                    <a:lnTo>
                      <a:pt x="685800" y="430530"/>
                    </a:lnTo>
                    <a:lnTo>
                      <a:pt x="506730" y="482600"/>
                    </a:lnTo>
                    <a:lnTo>
                      <a:pt x="495300" y="668020"/>
                    </a:lnTo>
                    <a:lnTo>
                      <a:pt x="342900" y="561340"/>
                    </a:lnTo>
                    <a:lnTo>
                      <a:pt x="190500" y="668020"/>
                    </a:lnTo>
                    <a:lnTo>
                      <a:pt x="179070" y="482600"/>
                    </a:lnTo>
                    <a:lnTo>
                      <a:pt x="0" y="430530"/>
                    </a:lnTo>
                    <a:lnTo>
                      <a:pt x="138430" y="304800"/>
                    </a:lnTo>
                    <a:lnTo>
                      <a:pt x="67310" y="132080"/>
                    </a:lnTo>
                    <a:lnTo>
                      <a:pt x="251460" y="162560"/>
                    </a:lnTo>
                    <a:close/>
                  </a:path>
                </a:pathLst>
              </a:custGeom>
              <a:solidFill>
                <a:srgbClr val="C22D2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139700" y="203200"/>
                <a:ext cx="406400" cy="35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32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53933" y="404529"/>
              <a:ext cx="17322771" cy="816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45"/>
                </a:lnSpc>
              </a:pPr>
              <a:r>
                <a:rPr lang="en-US" b="true" sz="2442">
                  <a:solidFill>
                    <a:srgbClr val="343431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CALCULADORA DEL ÍNDICE HHI PARA EL ANÁLISIS DE OPERACIONES DE CONCENTRACIÓN 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13979065" y="8366739"/>
            <a:ext cx="3280235" cy="0"/>
          </a:xfrm>
          <a:prstGeom prst="line">
            <a:avLst/>
          </a:prstGeom>
          <a:ln cap="flat" w="19050">
            <a:solidFill>
              <a:srgbClr val="C22D2D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3979065" y="8658696"/>
            <a:ext cx="3280235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38"/>
              </a:lnSpc>
            </a:pPr>
            <a:r>
              <a:rPr lang="en-US" sz="1948">
                <a:solidFill>
                  <a:srgbClr val="343431"/>
                </a:solidFill>
                <a:latin typeface="Open Sauce"/>
                <a:ea typeface="Open Sauce"/>
                <a:cs typeface="Open Sauce"/>
                <a:sym typeface="Open Sauce"/>
              </a:rPr>
              <a:t>Felipe Carvajal Argandoña</a:t>
            </a:r>
          </a:p>
          <a:p>
            <a:pPr algn="l">
              <a:lnSpc>
                <a:spcPts val="2338"/>
              </a:lnSpc>
            </a:pPr>
            <a:r>
              <a:rPr lang="en-US" sz="1948">
                <a:solidFill>
                  <a:srgbClr val="343431"/>
                </a:solidFill>
                <a:latin typeface="Open Sauce"/>
                <a:ea typeface="Open Sauce"/>
                <a:cs typeface="Open Sauce"/>
                <a:sym typeface="Open Sauce"/>
              </a:rPr>
              <a:t>Derecho PUCV</a:t>
            </a:r>
          </a:p>
          <a:p>
            <a:pPr algn="l" marL="0" indent="0" lvl="0">
              <a:lnSpc>
                <a:spcPts val="2338"/>
              </a:lnSpc>
              <a:spcBef>
                <a:spcPct val="0"/>
              </a:spcBef>
            </a:pPr>
            <a:r>
              <a:rPr lang="en-US" sz="1948">
                <a:solidFill>
                  <a:srgbClr val="343431"/>
                </a:solidFill>
                <a:latin typeface="Open Sauce"/>
                <a:ea typeface="Open Sauce"/>
                <a:cs typeface="Open Sauce"/>
                <a:sym typeface="Open Sauce"/>
              </a:rPr>
              <a:t>3er Año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2930" y="1028700"/>
            <a:ext cx="6275070" cy="8229600"/>
            <a:chOff x="0" y="0"/>
            <a:chExt cx="972173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2173" cy="1274980"/>
            </a:xfrm>
            <a:custGeom>
              <a:avLst/>
              <a:gdLst/>
              <a:ahLst/>
              <a:cxnLst/>
              <a:rect r="r" b="b" t="t" l="l"/>
              <a:pathLst>
                <a:path h="1274980" w="972173">
                  <a:moveTo>
                    <a:pt x="0" y="0"/>
                  </a:moveTo>
                  <a:lnTo>
                    <a:pt x="972173" y="0"/>
                  </a:lnTo>
                  <a:lnTo>
                    <a:pt x="972173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-49354" t="0" r="-49354" b="0"/>
              </a:stretch>
            </a:blipFill>
            <a:ln w="9525" cap="sq">
              <a:solidFill>
                <a:srgbClr val="FAFBFA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>
            <a:off x="1028700" y="7154539"/>
            <a:ext cx="4893045" cy="0"/>
          </a:xfrm>
          <a:prstGeom prst="line">
            <a:avLst/>
          </a:prstGeom>
          <a:ln cap="flat" w="19050">
            <a:solidFill>
              <a:srgbClr val="FAFBFA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732548" y="7306939"/>
            <a:ext cx="5534957" cy="2581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212"/>
              </a:lnSpc>
              <a:spcBef>
                <a:spcPct val="0"/>
              </a:spcBef>
            </a:pPr>
            <a:r>
              <a:rPr lang="en-US" sz="18013" spc="-1080">
                <a:solidFill>
                  <a:srgbClr val="FAFBFA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¿De que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67505" y="7306939"/>
            <a:ext cx="6635594" cy="2581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6212"/>
              </a:lnSpc>
              <a:spcBef>
                <a:spcPct val="0"/>
              </a:spcBef>
            </a:pPr>
            <a:r>
              <a:rPr lang="en-US" sz="18013" i="true" spc="-1080">
                <a:solidFill>
                  <a:srgbClr val="FAFBFA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trata?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00027" y="656852"/>
            <a:ext cx="862809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b="true" sz="3799">
                <a:solidFill>
                  <a:srgbClr val="FAFBF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CONTEXTO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609352"/>
            <a:ext cx="8556602" cy="519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2471"/>
              </a:lnSpc>
              <a:buFont typeface="Arial"/>
              <a:buChar char="•"/>
            </a:pPr>
            <a:r>
              <a:rPr lang="en-US" sz="2399">
                <a:solidFill>
                  <a:srgbClr val="FAFBFA"/>
                </a:solidFill>
                <a:latin typeface="Open Sauce"/>
                <a:ea typeface="Open Sauce"/>
                <a:cs typeface="Open Sauce"/>
                <a:sym typeface="Open Sauce"/>
              </a:rPr>
              <a:t>El Decreto Ley Nº 211, modificado por el DFL 1 de 2004, es la norma rectora en materia de Libre Competencia, un bien jurídico fundamental para el orden público económico.</a:t>
            </a:r>
          </a:p>
          <a:p>
            <a:pPr algn="l">
              <a:lnSpc>
                <a:spcPts val="2471"/>
              </a:lnSpc>
            </a:pPr>
          </a:p>
          <a:p>
            <a:pPr algn="l" marL="518158" indent="-259079" lvl="1">
              <a:lnSpc>
                <a:spcPts val="2471"/>
              </a:lnSpc>
              <a:buFont typeface="Arial"/>
              <a:buChar char="•"/>
            </a:pPr>
            <a:r>
              <a:rPr lang="en-US" sz="2399">
                <a:solidFill>
                  <a:srgbClr val="FAFBFA"/>
                </a:solidFill>
                <a:latin typeface="Open Sauce"/>
                <a:ea typeface="Open Sauce"/>
                <a:cs typeface="Open Sauce"/>
                <a:sym typeface="Open Sauce"/>
              </a:rPr>
              <a:t>Sin embargo, existen operaciones de concentración que vulneran dicho bien jurídico, como pueden ser las fusiones o los carteles, las cuales si superan ciertos umbrales de ventad deben ser notificadas a la FNE.</a:t>
            </a:r>
          </a:p>
          <a:p>
            <a:pPr algn="l">
              <a:lnSpc>
                <a:spcPts val="2471"/>
              </a:lnSpc>
            </a:pPr>
          </a:p>
          <a:p>
            <a:pPr algn="l" marL="518158" indent="-259079" lvl="1">
              <a:lnSpc>
                <a:spcPts val="2471"/>
              </a:lnSpc>
              <a:buFont typeface="Arial"/>
              <a:buChar char="•"/>
            </a:pPr>
            <a:r>
              <a:rPr lang="en-US" sz="2399">
                <a:solidFill>
                  <a:srgbClr val="FAFBFA"/>
                </a:solidFill>
                <a:latin typeface="Open Sauce"/>
                <a:ea typeface="Open Sauce"/>
                <a:cs typeface="Open Sauce"/>
                <a:sym typeface="Open Sauce"/>
              </a:rPr>
              <a:t>El riesgo que se corre con ello es que la operación cree un actor con una posición dominante capaz de subir precios o bloquear competidores de forma unilateral.</a:t>
            </a:r>
          </a:p>
          <a:p>
            <a:pPr algn="l">
              <a:lnSpc>
                <a:spcPts val="2471"/>
              </a:lnSpc>
            </a:pPr>
          </a:p>
          <a:p>
            <a:pPr algn="l" marL="518158" indent="-259079" lvl="1">
              <a:lnSpc>
                <a:spcPts val="2471"/>
              </a:lnSpc>
              <a:buFont typeface="Arial"/>
              <a:buChar char="•"/>
            </a:pPr>
            <a:r>
              <a:rPr lang="en-US" sz="2399">
                <a:solidFill>
                  <a:srgbClr val="FAFBFA"/>
                </a:solidFill>
                <a:latin typeface="Open Sauce"/>
                <a:ea typeface="Open Sauce"/>
                <a:cs typeface="Open Sauce"/>
                <a:sym typeface="Open Sauce"/>
              </a:rPr>
              <a:t>Para evaluar este riesgo de manera objetiva, la FNE utiliza el índice Herfindahl-Hirschman (</a:t>
            </a:r>
            <a:r>
              <a:rPr lang="en-US" sz="2399" i="true">
                <a:solidFill>
                  <a:srgbClr val="FAFBFA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HHI index)</a:t>
            </a:r>
            <a:r>
              <a:rPr lang="en-US" sz="2399">
                <a:solidFill>
                  <a:srgbClr val="FAFBFA"/>
                </a:solidFill>
                <a:latin typeface="Open Sauce"/>
                <a:ea typeface="Open Sauce"/>
                <a:cs typeface="Open Sauce"/>
                <a:sym typeface="Open Sauce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91574"/>
            <a:ext cx="6275070" cy="8229600"/>
            <a:chOff x="0" y="0"/>
            <a:chExt cx="972173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2173" cy="1274980"/>
            </a:xfrm>
            <a:custGeom>
              <a:avLst/>
              <a:gdLst/>
              <a:ahLst/>
              <a:cxnLst/>
              <a:rect r="r" b="b" t="t" l="l"/>
              <a:pathLst>
                <a:path h="1274980" w="972173">
                  <a:moveTo>
                    <a:pt x="0" y="0"/>
                  </a:moveTo>
                  <a:lnTo>
                    <a:pt x="972173" y="0"/>
                  </a:lnTo>
                  <a:lnTo>
                    <a:pt x="972173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-48607" t="0" r="-48607" b="0"/>
              </a:stretch>
            </a:blipFill>
            <a:ln w="9525" cap="sq">
              <a:solidFill>
                <a:srgbClr val="FAFBFA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flipH="true">
            <a:off x="12807557" y="7076550"/>
            <a:ext cx="4893045" cy="0"/>
          </a:xfrm>
          <a:prstGeom prst="line">
            <a:avLst/>
          </a:prstGeom>
          <a:ln cap="flat" w="19050">
            <a:solidFill>
              <a:srgbClr val="C22D2D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9368740" y="1218061"/>
            <a:ext cx="862809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b="true" sz="3799">
                <a:solidFill>
                  <a:srgbClr val="C22D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DIFICULTADES PARA EL DERECHO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2764773"/>
            <a:ext cx="8556602" cy="4585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2471"/>
              </a:lnSpc>
              <a:buFont typeface="Arial"/>
              <a:buChar char="•"/>
            </a:pPr>
            <a:r>
              <a:rPr lang="en-US" sz="2399">
                <a:solidFill>
                  <a:srgbClr val="C22D2D"/>
                </a:solidFill>
                <a:latin typeface="Open Sauce"/>
                <a:ea typeface="Open Sauce"/>
                <a:cs typeface="Open Sauce"/>
                <a:sym typeface="Open Sauce"/>
              </a:rPr>
              <a:t>Las empresas entregan registros de ventas (ej. facturación anual por producto). Determinar el "tamaño del mercado" exige sumar miles de filas manualmente antes de siquiera calcular una cuota.</a:t>
            </a:r>
          </a:p>
          <a:p>
            <a:pPr algn="l">
              <a:lnSpc>
                <a:spcPts val="2471"/>
              </a:lnSpc>
            </a:pPr>
          </a:p>
          <a:p>
            <a:pPr algn="l" marL="518158" indent="-259079" lvl="1">
              <a:lnSpc>
                <a:spcPts val="2471"/>
              </a:lnSpc>
              <a:buFont typeface="Arial"/>
              <a:buChar char="•"/>
            </a:pPr>
            <a:r>
              <a:rPr lang="en-US" sz="2399">
                <a:solidFill>
                  <a:srgbClr val="C22D2D"/>
                </a:solidFill>
                <a:latin typeface="Open Sauce"/>
                <a:ea typeface="Open Sauce"/>
                <a:cs typeface="Open Sauce"/>
                <a:sym typeface="Open Sauce"/>
              </a:rPr>
              <a:t>Por cada empresa, el abogado debe calcular su porcentaje de participación, elevarlo al cuadrado y luego sumar la totalidad. Un error en un decimal invalida todo el análisis jurídico.</a:t>
            </a:r>
          </a:p>
          <a:p>
            <a:pPr algn="l">
              <a:lnSpc>
                <a:spcPts val="2471"/>
              </a:lnSpc>
            </a:pPr>
          </a:p>
          <a:p>
            <a:pPr algn="l" marL="518158" indent="-259079" lvl="1">
              <a:lnSpc>
                <a:spcPts val="2471"/>
              </a:lnSpc>
              <a:buFont typeface="Arial"/>
              <a:buChar char="•"/>
            </a:pPr>
            <a:r>
              <a:rPr lang="en-US" sz="2399">
                <a:solidFill>
                  <a:srgbClr val="C22D2D"/>
                </a:solidFill>
                <a:latin typeface="Open Sauce"/>
                <a:ea typeface="Open Sauce"/>
                <a:cs typeface="Open Sauce"/>
                <a:sym typeface="Open Sauce"/>
              </a:rPr>
              <a:t>Si la FNE objeta la definición del "mercado relevante" e incluye o excluye competidores, el abogado debe rehacer todo el cálculo matemático desde cero.</a:t>
            </a:r>
          </a:p>
          <a:p>
            <a:pPr algn="l">
              <a:lnSpc>
                <a:spcPts val="2471"/>
              </a:lnSpc>
            </a:pPr>
          </a:p>
          <a:p>
            <a:pPr algn="l">
              <a:lnSpc>
                <a:spcPts val="247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425323" y="7781412"/>
            <a:ext cx="3437354" cy="250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762"/>
              </a:lnSpc>
              <a:spcBef>
                <a:spcPct val="0"/>
              </a:spcBef>
            </a:pPr>
            <a:r>
              <a:rPr lang="en-US" sz="17513" spc="-1050">
                <a:solidFill>
                  <a:srgbClr val="C22D2D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¿Y 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62677" y="7781412"/>
            <a:ext cx="7859579" cy="250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762"/>
              </a:lnSpc>
              <a:spcBef>
                <a:spcPct val="0"/>
              </a:spcBef>
            </a:pPr>
            <a:r>
              <a:rPr lang="en-US" sz="17513" i="true" spc="-1050">
                <a:solidFill>
                  <a:srgbClr val="C22D2D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problema</a:t>
            </a:r>
            <a:r>
              <a:rPr lang="en-US" sz="17513" i="true" spc="-1050">
                <a:solidFill>
                  <a:srgbClr val="C22D2D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12930" y="1028700"/>
            <a:ext cx="6275070" cy="8229600"/>
            <a:chOff x="0" y="0"/>
            <a:chExt cx="972173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2173" cy="1274980"/>
            </a:xfrm>
            <a:custGeom>
              <a:avLst/>
              <a:gdLst/>
              <a:ahLst/>
              <a:cxnLst/>
              <a:rect r="r" b="b" t="t" l="l"/>
              <a:pathLst>
                <a:path h="1274980" w="972173">
                  <a:moveTo>
                    <a:pt x="0" y="0"/>
                  </a:moveTo>
                  <a:lnTo>
                    <a:pt x="972173" y="0"/>
                  </a:lnTo>
                  <a:lnTo>
                    <a:pt x="972173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-48360" t="0" r="-48360" b="0"/>
              </a:stretch>
            </a:blipFill>
            <a:ln w="9525" cap="sq">
              <a:solidFill>
                <a:srgbClr val="FAFBFA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>
            <a:off x="1028700" y="6973564"/>
            <a:ext cx="4893045" cy="0"/>
          </a:xfrm>
          <a:prstGeom prst="line">
            <a:avLst/>
          </a:prstGeom>
          <a:ln cap="flat" w="19050">
            <a:solidFill>
              <a:srgbClr val="FAFBFA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0" y="4187960"/>
            <a:ext cx="11496740" cy="0"/>
          </a:xfrm>
          <a:prstGeom prst="line">
            <a:avLst/>
          </a:prstGeom>
          <a:ln cap="flat" w="38100">
            <a:solidFill>
              <a:srgbClr val="FAFBF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0" y="4575235"/>
            <a:ext cx="4836520" cy="1431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3"/>
              </a:lnSpc>
            </a:pPr>
            <a:r>
              <a:rPr lang="en-US" sz="2399">
                <a:solidFill>
                  <a:srgbClr val="FAFBFA"/>
                </a:solidFill>
                <a:latin typeface="Open Sauce"/>
                <a:ea typeface="Open Sauce"/>
                <a:cs typeface="Open Sauce"/>
                <a:sym typeface="Open Sauce"/>
              </a:rPr>
              <a:t>Fase 1: Ingesta</a:t>
            </a:r>
          </a:p>
          <a:p>
            <a:pPr algn="ctr">
              <a:lnSpc>
                <a:spcPts val="2303"/>
              </a:lnSpc>
            </a:pPr>
          </a:p>
          <a:p>
            <a:pPr algn="ctr">
              <a:lnSpc>
                <a:spcPts val="2310"/>
              </a:lnSpc>
            </a:pPr>
            <a:r>
              <a:rPr lang="en-US" sz="2100">
                <a:solidFill>
                  <a:srgbClr val="FAFBFA"/>
                </a:solidFill>
                <a:latin typeface="Open Sauce"/>
                <a:ea typeface="Open Sauce"/>
                <a:cs typeface="Open Sauce"/>
                <a:sym typeface="Open Sauce"/>
              </a:rPr>
              <a:t>Módulo para cargar archivos CSV (Excel) con datos de ventas por empresa.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86078" y="4546660"/>
            <a:ext cx="3783906" cy="180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>
                <a:solidFill>
                  <a:srgbClr val="FAFBFA"/>
                </a:solidFill>
                <a:latin typeface="Open Sauce"/>
                <a:ea typeface="Open Sauce"/>
                <a:cs typeface="Open Sauce"/>
                <a:sym typeface="Open Sauce"/>
              </a:rPr>
              <a:t>Fase 3: Reglas FNE</a:t>
            </a:r>
          </a:p>
          <a:p>
            <a:pPr algn="ctr">
              <a:lnSpc>
                <a:spcPts val="2639"/>
              </a:lnSpc>
            </a:pPr>
          </a:p>
          <a:p>
            <a:pPr algn="ctr">
              <a:lnSpc>
                <a:spcPts val="2310"/>
              </a:lnSpc>
            </a:pPr>
            <a:r>
              <a:rPr lang="en-US" sz="2100">
                <a:solidFill>
                  <a:srgbClr val="FAFBFA"/>
                </a:solidFill>
                <a:latin typeface="Open Sauce"/>
                <a:ea typeface="Open Sauce"/>
                <a:cs typeface="Open Sauce"/>
                <a:sym typeface="Open Sauce"/>
              </a:rPr>
              <a:t>Lógica que clasifica el HHI: &lt;1500 (Bajo), 1500-2500 (Medio), &gt;2500 (Alto).</a:t>
            </a:r>
          </a:p>
          <a:p>
            <a:pPr algn="ctr">
              <a:lnSpc>
                <a:spcPts val="22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385090" y="2224084"/>
            <a:ext cx="5488745" cy="286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>
                <a:solidFill>
                  <a:srgbClr val="FAFBFA"/>
                </a:solidFill>
                <a:latin typeface="Open Sauce"/>
                <a:ea typeface="Open Sauce"/>
                <a:cs typeface="Open Sauce"/>
                <a:sym typeface="Open Sauce"/>
              </a:rPr>
              <a:t>Fase 2: Motor de Cálculo</a:t>
            </a:r>
          </a:p>
          <a:p>
            <a:pPr algn="ctr">
              <a:lnSpc>
                <a:spcPts val="2639"/>
              </a:lnSpc>
            </a:pPr>
          </a:p>
          <a:p>
            <a:pPr algn="ctr">
              <a:lnSpc>
                <a:spcPts val="2310"/>
              </a:lnSpc>
            </a:pPr>
            <a:r>
              <a:rPr lang="en-US" sz="2100">
                <a:solidFill>
                  <a:srgbClr val="FAFBFA"/>
                </a:solidFill>
                <a:latin typeface="Open Sauce"/>
                <a:ea typeface="Open Sauce"/>
                <a:cs typeface="Open Sauce"/>
                <a:sym typeface="Open Sauce"/>
              </a:rPr>
              <a:t>Script que suma totales, calcula % de cuota (Market Share) y aplica la fórmula HHI.</a:t>
            </a: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</a:p>
          <a:p>
            <a:pPr algn="l">
              <a:lnSpc>
                <a:spcPts val="2639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2169555" y="4006779"/>
            <a:ext cx="415435" cy="362362"/>
            <a:chOff x="0" y="0"/>
            <a:chExt cx="109415" cy="954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415" cy="95437"/>
            </a:xfrm>
            <a:custGeom>
              <a:avLst/>
              <a:gdLst/>
              <a:ahLst/>
              <a:cxnLst/>
              <a:rect r="r" b="b" t="t" l="l"/>
              <a:pathLst>
                <a:path h="95437" w="109415">
                  <a:moveTo>
                    <a:pt x="0" y="0"/>
                  </a:moveTo>
                  <a:lnTo>
                    <a:pt x="109415" y="0"/>
                  </a:lnTo>
                  <a:lnTo>
                    <a:pt x="109415" y="95437"/>
                  </a:lnTo>
                  <a:lnTo>
                    <a:pt x="0" y="95437"/>
                  </a:lnTo>
                  <a:close/>
                </a:path>
              </a:pathLst>
            </a:custGeom>
            <a:solidFill>
              <a:srgbClr val="FAFBF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09415" cy="47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921745" y="4006779"/>
            <a:ext cx="415435" cy="362362"/>
            <a:chOff x="0" y="0"/>
            <a:chExt cx="109415" cy="9543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415" cy="95437"/>
            </a:xfrm>
            <a:custGeom>
              <a:avLst/>
              <a:gdLst/>
              <a:ahLst/>
              <a:cxnLst/>
              <a:rect r="r" b="b" t="t" l="l"/>
              <a:pathLst>
                <a:path h="95437" w="109415">
                  <a:moveTo>
                    <a:pt x="0" y="0"/>
                  </a:moveTo>
                  <a:lnTo>
                    <a:pt x="109415" y="0"/>
                  </a:lnTo>
                  <a:lnTo>
                    <a:pt x="109415" y="95437"/>
                  </a:lnTo>
                  <a:lnTo>
                    <a:pt x="0" y="95437"/>
                  </a:lnTo>
                  <a:close/>
                </a:path>
              </a:pathLst>
            </a:custGeom>
            <a:solidFill>
              <a:srgbClr val="FAFBF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47625"/>
              <a:ext cx="109415" cy="47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70314" y="4006779"/>
            <a:ext cx="415435" cy="362362"/>
            <a:chOff x="0" y="0"/>
            <a:chExt cx="109415" cy="954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415" cy="95437"/>
            </a:xfrm>
            <a:custGeom>
              <a:avLst/>
              <a:gdLst/>
              <a:ahLst/>
              <a:cxnLst/>
              <a:rect r="r" b="b" t="t" l="l"/>
              <a:pathLst>
                <a:path h="95437" w="109415">
                  <a:moveTo>
                    <a:pt x="0" y="0"/>
                  </a:moveTo>
                  <a:lnTo>
                    <a:pt x="109415" y="0"/>
                  </a:lnTo>
                  <a:lnTo>
                    <a:pt x="109415" y="95437"/>
                  </a:lnTo>
                  <a:lnTo>
                    <a:pt x="0" y="95437"/>
                  </a:lnTo>
                  <a:close/>
                </a:path>
              </a:pathLst>
            </a:custGeom>
            <a:solidFill>
              <a:srgbClr val="FAFBF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47625"/>
              <a:ext cx="109415" cy="478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03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7125964"/>
            <a:ext cx="6300670" cy="243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312"/>
              </a:lnSpc>
              <a:spcBef>
                <a:spcPct val="0"/>
              </a:spcBef>
            </a:pPr>
            <a:r>
              <a:rPr lang="en-US" sz="17013" spc="-1020">
                <a:solidFill>
                  <a:srgbClr val="FAFBFA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¿Hay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91049" y="7135489"/>
            <a:ext cx="6635594" cy="2438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5312"/>
              </a:lnSpc>
              <a:spcBef>
                <a:spcPct val="0"/>
              </a:spcBef>
            </a:pPr>
            <a:r>
              <a:rPr lang="en-US" sz="17013" i="true" spc="-1020">
                <a:solidFill>
                  <a:srgbClr val="FAFBFA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solución?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90447" y="840381"/>
            <a:ext cx="862809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b="true" sz="3799">
                <a:solidFill>
                  <a:srgbClr val="FAFBF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FASES DEL PROYECTO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91574"/>
            <a:ext cx="6275070" cy="8229600"/>
            <a:chOff x="0" y="0"/>
            <a:chExt cx="972173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2173" cy="1274980"/>
            </a:xfrm>
            <a:custGeom>
              <a:avLst/>
              <a:gdLst/>
              <a:ahLst/>
              <a:cxnLst/>
              <a:rect r="r" b="b" t="t" l="l"/>
              <a:pathLst>
                <a:path h="1274980" w="972173">
                  <a:moveTo>
                    <a:pt x="0" y="0"/>
                  </a:moveTo>
                  <a:lnTo>
                    <a:pt x="972173" y="0"/>
                  </a:lnTo>
                  <a:lnTo>
                    <a:pt x="972173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0" t="-7330" r="0" b="-7330"/>
              </a:stretch>
            </a:blipFill>
            <a:ln w="9525" cap="sq">
              <a:solidFill>
                <a:srgbClr val="FAFBFA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flipH="true">
            <a:off x="12807557" y="7076550"/>
            <a:ext cx="4893045" cy="0"/>
          </a:xfrm>
          <a:prstGeom prst="line">
            <a:avLst/>
          </a:prstGeom>
          <a:ln cap="flat" w="19050">
            <a:solidFill>
              <a:srgbClr val="C22D2D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586598" y="7905600"/>
            <a:ext cx="4926663" cy="2225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063"/>
              </a:lnSpc>
              <a:spcBef>
                <a:spcPct val="0"/>
              </a:spcBef>
            </a:pPr>
            <a:r>
              <a:rPr lang="en-US" sz="15625" spc="-937">
                <a:solidFill>
                  <a:srgbClr val="C22D2D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¿En qué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13261" y="7903566"/>
            <a:ext cx="6790757" cy="222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007"/>
              </a:lnSpc>
              <a:spcBef>
                <a:spcPct val="0"/>
              </a:spcBef>
            </a:pPr>
            <a:r>
              <a:rPr lang="en-US" sz="15563" i="true" spc="-933">
                <a:solidFill>
                  <a:srgbClr val="C22D2D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impactará</a:t>
            </a:r>
            <a:r>
              <a:rPr lang="en-US" sz="15563" i="true" spc="-933">
                <a:solidFill>
                  <a:srgbClr val="C22D2D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68740" y="1218061"/>
            <a:ext cx="8628092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59"/>
              </a:lnSpc>
              <a:spcBef>
                <a:spcPct val="0"/>
              </a:spcBef>
            </a:pPr>
            <a:r>
              <a:rPr lang="en-US" b="true" sz="3799">
                <a:solidFill>
                  <a:srgbClr val="C22D2D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IMPACTO DE LA SOLUCIÓN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2764773"/>
            <a:ext cx="8556602" cy="4280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2471"/>
              </a:lnSpc>
              <a:buFont typeface="Arial"/>
              <a:buChar char="•"/>
            </a:pPr>
            <a:r>
              <a:rPr lang="en-US" sz="2399">
                <a:solidFill>
                  <a:srgbClr val="C22D2D"/>
                </a:solidFill>
                <a:latin typeface="Open Sauce"/>
                <a:ea typeface="Open Sauce"/>
                <a:cs typeface="Open Sauce"/>
                <a:sym typeface="Open Sauce"/>
              </a:rPr>
              <a:t>La herramienta transformará horas de trabajo administrativo en segundos. Al cargar los datos, el sistema generará automáticamente un análisis visual.</a:t>
            </a:r>
          </a:p>
          <a:p>
            <a:pPr algn="l">
              <a:lnSpc>
                <a:spcPts val="2471"/>
              </a:lnSpc>
            </a:pPr>
          </a:p>
          <a:p>
            <a:pPr algn="l" marL="518158" indent="-259079" lvl="1">
              <a:lnSpc>
                <a:spcPts val="2471"/>
              </a:lnSpc>
              <a:buFont typeface="Arial"/>
              <a:buChar char="•"/>
            </a:pPr>
            <a:r>
              <a:rPr lang="en-US" sz="2399">
                <a:solidFill>
                  <a:srgbClr val="C22D2D"/>
                </a:solidFill>
                <a:latin typeface="Open Sauce"/>
                <a:ea typeface="Open Sauce"/>
                <a:cs typeface="Open Sauce"/>
                <a:sym typeface="Open Sauce"/>
              </a:rPr>
              <a:t>Esto permite al equipo legal enfocarse en la estrategia y la argumentación jurídica, y no en arrastrar fórmulas de Excel, garantizando precisión técnica frente a la FNE.</a:t>
            </a:r>
          </a:p>
          <a:p>
            <a:pPr algn="l">
              <a:lnSpc>
                <a:spcPts val="2471"/>
              </a:lnSpc>
            </a:pPr>
          </a:p>
          <a:p>
            <a:pPr algn="l" marL="518158" indent="-259079" lvl="1">
              <a:lnSpc>
                <a:spcPts val="2471"/>
              </a:lnSpc>
              <a:buFont typeface="Arial"/>
              <a:buChar char="•"/>
            </a:pPr>
            <a:r>
              <a:rPr lang="en-US" sz="2399">
                <a:solidFill>
                  <a:srgbClr val="C22D2D"/>
                </a:solidFill>
                <a:latin typeface="Open Sauce"/>
                <a:ea typeface="Open Sauce"/>
                <a:cs typeface="Open Sauce"/>
                <a:sym typeface="Open Sauce"/>
              </a:rPr>
              <a:t>El objetivo es aligerar la carga y aumentar la eficacia, en vistas de la garantía de la Libre Competencia.</a:t>
            </a:r>
          </a:p>
          <a:p>
            <a:pPr algn="l">
              <a:lnSpc>
                <a:spcPts val="2471"/>
              </a:lnSpc>
            </a:pPr>
          </a:p>
          <a:p>
            <a:pPr algn="l">
              <a:lnSpc>
                <a:spcPts val="2471"/>
              </a:lnSpc>
            </a:pPr>
          </a:p>
          <a:p>
            <a:pPr algn="l">
              <a:lnSpc>
                <a:spcPts val="2471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73212" y="1028700"/>
            <a:ext cx="5286088" cy="8229600"/>
            <a:chOff x="0" y="0"/>
            <a:chExt cx="818953" cy="12749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8953" cy="1274980"/>
            </a:xfrm>
            <a:custGeom>
              <a:avLst/>
              <a:gdLst/>
              <a:ahLst/>
              <a:cxnLst/>
              <a:rect r="r" b="b" t="t" l="l"/>
              <a:pathLst>
                <a:path h="1274980" w="818953">
                  <a:moveTo>
                    <a:pt x="0" y="0"/>
                  </a:moveTo>
                  <a:lnTo>
                    <a:pt x="818953" y="0"/>
                  </a:lnTo>
                  <a:lnTo>
                    <a:pt x="818953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-66836" t="0" r="-66836" b="0"/>
              </a:stretch>
            </a:blipFill>
            <a:ln w="9525" cap="sq">
              <a:solidFill>
                <a:srgbClr val="FAFBFA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>
            <a:off x="2883097" y="8090749"/>
            <a:ext cx="4684194" cy="0"/>
          </a:xfrm>
          <a:prstGeom prst="line">
            <a:avLst/>
          </a:prstGeom>
          <a:ln cap="flat" w="19050">
            <a:solidFill>
              <a:srgbClr val="FAFBFA"/>
            </a:solidFill>
            <a:prstDash val="solid"/>
            <a:headEnd type="diamond" len="lg" w="lg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928362" y="2601686"/>
            <a:ext cx="5954597" cy="2477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44"/>
              </a:lnSpc>
              <a:spcBef>
                <a:spcPct val="0"/>
              </a:spcBef>
            </a:pPr>
            <a:r>
              <a:rPr lang="en-US" sz="17271" spc="-1036">
                <a:solidFill>
                  <a:srgbClr val="FAFBFA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Muchas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32585" y="4189539"/>
            <a:ext cx="4711415" cy="247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544"/>
              </a:lnSpc>
              <a:spcBef>
                <a:spcPct val="0"/>
              </a:spcBef>
            </a:pPr>
            <a:r>
              <a:rPr lang="en-US" sz="17271" i="true" spc="-1036">
                <a:solidFill>
                  <a:srgbClr val="FAFBFA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gracias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62319" y="7581788"/>
            <a:ext cx="3725751" cy="40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2"/>
              </a:lnSpc>
            </a:pPr>
            <a:r>
              <a:rPr lang="en-US" b="true" sz="3200" i="true" spc="-35">
                <a:solidFill>
                  <a:srgbClr val="FFFFFF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MATCH MAKING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31387" y="8225950"/>
            <a:ext cx="3935905" cy="210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5"/>
              </a:lnSpc>
            </a:pPr>
            <a:r>
              <a:rPr lang="en-US" sz="159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DERECHO + INGENIERÍA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DAHUwMzqZWY</dc:identifier>
  <dcterms:modified xsi:type="dcterms:W3CDTF">2011-08-01T06:04:30Z</dcterms:modified>
  <cp:revision>1</cp:revision>
  <dc:title>Match Making</dc:title>
</cp:coreProperties>
</file>